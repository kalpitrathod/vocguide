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cvet.gov.in/wp-content/uploads/2023/05/National-Credit-Framework-NCVET-notification.pdf" TargetMode="External"/><Relationship Id="rId13" Type="http://schemas.openxmlformats.org/officeDocument/2006/relationships/hyperlink" Target="https://ncvet.gov.in/" TargetMode="External"/><Relationship Id="rId3" Type="http://schemas.openxmlformats.org/officeDocument/2006/relationships/hyperlink" Target="https://dgt.gov.in/sites/default/files/pdf/Tracer%20Study%20of%20ITI%20Graduates-Final%20report.pdf" TargetMode="External"/><Relationship Id="rId7" Type="http://schemas.openxmlformats.org/officeDocument/2006/relationships/hyperlink" Target="https://static.pib.gov.in/WriteReadData/userfiles/NEP_Final_English_0.pdf" TargetMode="External"/><Relationship Id="rId12" Type="http://schemas.openxmlformats.org/officeDocument/2006/relationships/hyperlink" Target="https://www.msde.gov.in/" TargetMode="External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ncvtmis.gov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8/ET-04-2018-0102" TargetMode="External"/><Relationship Id="rId11" Type="http://schemas.openxmlformats.org/officeDocument/2006/relationships/hyperlink" Target="https://ai4bharat.org/" TargetMode="External"/><Relationship Id="rId5" Type="http://schemas.openxmlformats.org/officeDocument/2006/relationships/hyperlink" Target="https://www.niti.gov.in/sites/default/files/2023-02/ITI_Report_02022023_0.pdf" TargetMode="External"/><Relationship Id="rId15" Type="http://schemas.openxmlformats.org/officeDocument/2006/relationships/hyperlink" Target="https://dgt.gov.in/" TargetMode="External"/><Relationship Id="rId10" Type="http://schemas.openxmlformats.org/officeDocument/2006/relationships/hyperlink" Target="https://github.com/ggml-org/whisper.cpp" TargetMode="External"/><Relationship Id="rId4" Type="http://schemas.openxmlformats.org/officeDocument/2006/relationships/hyperlink" Target="https://dgt.gov.in/sites/default/files/National%20Tracer%20Study%20-%20STRIVE.pdf" TargetMode="External"/><Relationship Id="rId9" Type="http://schemas.openxmlformats.org/officeDocument/2006/relationships/hyperlink" Target="https://ncvet.gov.in/wp-content/uploads/2023/05/Report-on-National_Credit_Framework.pdf" TargetMode="External"/><Relationship Id="rId14" Type="http://schemas.openxmlformats.org/officeDocument/2006/relationships/hyperlink" Target="https://www.niti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516067"/>
            <a:ext cx="61509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Problem Statement ID - </a:t>
            </a:r>
            <a:r>
              <a:rPr lang="en-US" sz="2400" b="1" dirty="0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SIH26241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Problem Statement Title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AI-Enabled Career Counselling and Family Decision-Support Platform for Vocational Education</a:t>
            </a:r>
            <a:endParaRPr lang="en-US" sz="2400" b="1" dirty="0">
              <a:solidFill>
                <a:schemeClr val="tx2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Theme - </a:t>
            </a:r>
            <a:r>
              <a:rPr lang="en-US" sz="2400" b="1" dirty="0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Smart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PS Category - </a:t>
            </a:r>
            <a:r>
              <a:rPr lang="en-US" sz="2400" b="1" dirty="0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Team ID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SmritiCare</a:t>
            </a:r>
            <a:endParaRPr lang="en-IN" sz="2400" b="1" dirty="0">
              <a:solidFill>
                <a:schemeClr val="tx2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FDCAC7E-5C4C-13CB-D9B0-FFC5834C5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79" y="1063837"/>
            <a:ext cx="2944083" cy="2644876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703871" y="-1"/>
            <a:ext cx="6902246" cy="1268361"/>
          </a:xfrm>
        </p:spPr>
        <p:txBody>
          <a:bodyPr/>
          <a:lstStyle/>
          <a:p>
            <a:pPr eaLnBrk="1" hangingPunct="1"/>
            <a:r>
              <a:rPr lang="en-GB" sz="2400" b="1" dirty="0" err="1">
                <a:latin typeface="Adobe Fan Heiti Std B" panose="020B0700000000000000" pitchFamily="34" charset="-128"/>
                <a:ea typeface="Adobe Fan Heiti Std B" panose="020B0700000000000000" pitchFamily="34" charset="-128"/>
                <a:cs typeface="Times New Roman" panose="02020603050405020304" pitchFamily="18" charset="0"/>
              </a:rPr>
              <a:t>VocGuide</a:t>
            </a:r>
            <a:br>
              <a:rPr lang="en-GB" sz="20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Times New Roman" panose="02020603050405020304" pitchFamily="18" charset="0"/>
              </a:rPr>
            </a:br>
            <a:r>
              <a:rPr lang="en-GB" sz="1600" b="1" dirty="0">
                <a:latin typeface="Adobe Fan Heiti Std B" panose="020B0700000000000000" pitchFamily="34" charset="-128"/>
                <a:ea typeface="Adobe Fan Heiti Std B" panose="020B0700000000000000" pitchFamily="34" charset="-128"/>
                <a:cs typeface="Times New Roman" panose="02020603050405020304" pitchFamily="18" charset="0"/>
              </a:rPr>
              <a:t>A bilingual, voice-enabled career counselling &amp; family decision-support ecosystem purpose-built for Indian vocational skilling.</a:t>
            </a:r>
            <a:endParaRPr lang="en-US" sz="2000" b="1" dirty="0">
              <a:latin typeface="Adobe Fan Heiti Std B" panose="020B0700000000000000" pitchFamily="34" charset="-128"/>
              <a:ea typeface="Adobe Fan Heiti Std B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90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SmritiCare</a:t>
            </a:r>
            <a:endParaRPr lang="en-IN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C7BC40-7F7E-CB62-86C7-CEC25ACCE91E}"/>
              </a:ext>
            </a:extLst>
          </p:cNvPr>
          <p:cNvCxnSpPr/>
          <p:nvPr/>
        </p:nvCxnSpPr>
        <p:spPr>
          <a:xfrm>
            <a:off x="6184492" y="1396180"/>
            <a:ext cx="0" cy="518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814F85-FA7B-0EA7-572A-2CF37FB78345}"/>
              </a:ext>
            </a:extLst>
          </p:cNvPr>
          <p:cNvSpPr txBox="1"/>
          <p:nvPr/>
        </p:nvSpPr>
        <p:spPr>
          <a:xfrm>
            <a:off x="3180635" y="1580846"/>
            <a:ext cx="2944084" cy="2800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Parents are the real decision-makers (80%+)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Strong cultural bias towards conventional degrees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Unaddressed anxieties about safety, pay and career progression.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Existing guidance tools are student-centric, ignoring the veto power.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E10685-1DB2-3E9F-8F0E-320B8A7FC5D7}"/>
              </a:ext>
            </a:extLst>
          </p:cNvPr>
          <p:cNvSpPr txBox="1"/>
          <p:nvPr/>
        </p:nvSpPr>
        <p:spPr>
          <a:xfrm>
            <a:off x="3201076" y="121151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The Problem</a:t>
            </a:r>
            <a:endParaRPr lang="en-GB" dirty="0">
              <a:highlight>
                <a:srgbClr val="FFFF00"/>
              </a:highlight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340D43B-05F0-718B-623C-1406CB2E1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1076" y="4381613"/>
            <a:ext cx="2600629" cy="247638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1E843D1-9C5F-EA10-7920-D9042383ABD7}"/>
              </a:ext>
            </a:extLst>
          </p:cNvPr>
          <p:cNvSpPr txBox="1"/>
          <p:nvPr/>
        </p:nvSpPr>
        <p:spPr>
          <a:xfrm>
            <a:off x="329773" y="3698156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The Solution</a:t>
            </a:r>
            <a:endParaRPr lang="en-GB" dirty="0">
              <a:highlight>
                <a:srgbClr val="FFFF00"/>
              </a:highlight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9613CE-D310-35A3-AD93-9BE3875A1173}"/>
              </a:ext>
            </a:extLst>
          </p:cNvPr>
          <p:cNvSpPr txBox="1"/>
          <p:nvPr/>
        </p:nvSpPr>
        <p:spPr>
          <a:xfrm>
            <a:off x="226331" y="4047824"/>
            <a:ext cx="2944084" cy="28007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Joint Conversation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Uses empirical benchmarks (NCVT, DGT) for real salary &amp; Placement Figures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Reassucres</a:t>
            </a:r>
            <a:r>
              <a:rPr lang="en-IN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families about safety ratings and PPE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Human Counsellors and real-time dashboard to track resistance.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0026FE8-2357-716D-67E4-30028A81D8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2" t="4256" r="6103" b="73172"/>
          <a:stretch>
            <a:fillRect/>
          </a:stretch>
        </p:blipFill>
        <p:spPr>
          <a:xfrm>
            <a:off x="6263930" y="4386963"/>
            <a:ext cx="5785670" cy="212248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0E52F36-43EA-9087-B5BF-59D7EA933F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942" t="12900" r="9181"/>
          <a:stretch>
            <a:fillRect/>
          </a:stretch>
        </p:blipFill>
        <p:spPr>
          <a:xfrm>
            <a:off x="6263930" y="1959586"/>
            <a:ext cx="2410540" cy="1923236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8171394-2A73-1622-566D-BE3554657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233050"/>
              </p:ext>
            </p:extLst>
          </p:nvPr>
        </p:nvGraphicFramePr>
        <p:xfrm>
          <a:off x="8724619" y="1211514"/>
          <a:ext cx="3342963" cy="3095693"/>
        </p:xfrm>
        <a:graphic>
          <a:graphicData uri="http://schemas.openxmlformats.org/drawingml/2006/table">
            <a:tbl>
              <a:tblPr firstRow="1" firstCol="1">
                <a:tableStyleId>{22838BEF-8BB2-4498-84A7-C5851F593DF1}</a:tableStyleId>
              </a:tblPr>
              <a:tblGrid>
                <a:gridCol w="937596">
                  <a:extLst>
                    <a:ext uri="{9D8B030D-6E8A-4147-A177-3AD203B41FA5}">
                      <a16:colId xmlns:a16="http://schemas.microsoft.com/office/drawing/2014/main" val="4009655158"/>
                    </a:ext>
                  </a:extLst>
                </a:gridCol>
                <a:gridCol w="1240976">
                  <a:extLst>
                    <a:ext uri="{9D8B030D-6E8A-4147-A177-3AD203B41FA5}">
                      <a16:colId xmlns:a16="http://schemas.microsoft.com/office/drawing/2014/main" val="1243373053"/>
                    </a:ext>
                  </a:extLst>
                </a:gridCol>
                <a:gridCol w="1164391">
                  <a:extLst>
                    <a:ext uri="{9D8B030D-6E8A-4147-A177-3AD203B41FA5}">
                      <a16:colId xmlns:a16="http://schemas.microsoft.com/office/drawing/2014/main" val="693117522"/>
                    </a:ext>
                  </a:extLst>
                </a:gridCol>
              </a:tblGrid>
              <a:tr h="38763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Dimension</a:t>
                      </a:r>
                      <a:endParaRPr lang="en-GB" sz="900" b="1" i="0" dirty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Conventional Career Tools</a:t>
                      </a:r>
                      <a:endParaRPr lang="en-GB" sz="900" b="1" i="0" dirty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Our Innovation</a:t>
                      </a:r>
                      <a:endParaRPr lang="en-GB" sz="900" b="1" i="0" dirty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509258"/>
                  </a:ext>
                </a:extLst>
              </a:tr>
              <a:tr h="535883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Target Audience</a:t>
                      </a:r>
                      <a:endParaRPr lang="en-GB" sz="900" b="1" i="0" dirty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Learner-only (ignores family influence).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Joint Family Unit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959797"/>
                  </a:ext>
                </a:extLst>
              </a:tr>
              <a:tr h="6588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Data Integrity</a:t>
                      </a:r>
                      <a:endParaRPr lang="en-GB" sz="900" b="1" i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Generic AI answers, static articles, or hallucinated claims.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Zero-Hallucination RAG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286501"/>
                  </a:ext>
                </a:extLst>
              </a:tr>
              <a:tr h="54543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Accessibility</a:t>
                      </a:r>
                      <a:endParaRPr lang="en-GB" sz="900" b="1" i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Text-heavy, English-first, complex dashboards.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Voice-First &amp; Vernacular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427979"/>
                  </a:ext>
                </a:extLst>
              </a:tr>
              <a:tr h="535883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Resolution Pathway</a:t>
                      </a:r>
                      <a:endParaRPr lang="en-GB" sz="900" b="1" i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Bot terminates when user is unsatisfied.</a:t>
                      </a:r>
                      <a:endParaRPr lang="en-GB" sz="900" b="0" i="1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Live Human Escalation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202220"/>
                  </a:ext>
                </a:extLst>
              </a:tr>
              <a:tr h="431973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Government Utility</a:t>
                      </a:r>
                      <a:endParaRPr lang="en-GB" sz="900" b="1" i="0" dirty="0">
                        <a:solidFill>
                          <a:srgbClr val="CCCC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Black box with zero policy feedback.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900" b="0" i="1" dirty="0">
                          <a:effectLst/>
                          <a:latin typeface="Adobe Fan Heiti Std B" panose="020B0700000000000000" pitchFamily="34" charset="-128"/>
                          <a:ea typeface="Adobe Fan Heiti Std B" panose="020B0700000000000000" pitchFamily="34" charset="-128"/>
                        </a:rPr>
                        <a:t>Policy Resistance Telemetry</a:t>
                      </a:r>
                      <a:endParaRPr lang="en-GB" sz="900" b="0" i="1" dirty="0">
                        <a:solidFill>
                          <a:srgbClr val="CCCCCC"/>
                        </a:solidFill>
                        <a:effectLst/>
                        <a:latin typeface="Adobe Fan Heiti Std B" panose="020B0700000000000000" pitchFamily="34" charset="-128"/>
                        <a:ea typeface="Adobe Fan Heiti Std B" panose="020B07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97721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E40AEBE-AE3D-2031-0961-61C23EF421A3}"/>
              </a:ext>
            </a:extLst>
          </p:cNvPr>
          <p:cNvSpPr txBox="1"/>
          <p:nvPr/>
        </p:nvSpPr>
        <p:spPr>
          <a:xfrm>
            <a:off x="6263930" y="1580846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Our Innovation</a:t>
            </a:r>
            <a:endParaRPr lang="en-GB" dirty="0">
              <a:highlight>
                <a:srgbClr val="FFFF00"/>
              </a:highlight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7889BC-F780-A153-BDD3-1E0208F4BF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66" t="3322" r="4308" b="3755"/>
          <a:stretch>
            <a:fillRect/>
          </a:stretch>
        </p:blipFill>
        <p:spPr>
          <a:xfrm>
            <a:off x="235972" y="1063837"/>
            <a:ext cx="4178710" cy="56541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899ACC-7F5D-534C-0B1C-B134F1B0EF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466"/>
          <a:stretch>
            <a:fillRect/>
          </a:stretch>
        </p:blipFill>
        <p:spPr>
          <a:xfrm>
            <a:off x="4414682" y="1143247"/>
            <a:ext cx="4017819" cy="57147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F5EB8C-037B-BBA6-CB44-7CCD7A324F0B}"/>
              </a:ext>
            </a:extLst>
          </p:cNvPr>
          <p:cNvSpPr txBox="1"/>
          <p:nvPr/>
        </p:nvSpPr>
        <p:spPr>
          <a:xfrm>
            <a:off x="2175729" y="690248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System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682DB-921B-7CA3-51B4-9E8A33ACF1FC}"/>
              </a:ext>
            </a:extLst>
          </p:cNvPr>
          <p:cNvSpPr txBox="1"/>
          <p:nvPr/>
        </p:nvSpPr>
        <p:spPr>
          <a:xfrm>
            <a:off x="5808679" y="77391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Flowchart</a:t>
            </a:r>
            <a:endParaRPr lang="en-GB" dirty="0">
              <a:highlight>
                <a:srgbClr val="FFFF00"/>
              </a:highlight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75138C-C081-3746-3087-E55512FAE84D}"/>
              </a:ext>
            </a:extLst>
          </p:cNvPr>
          <p:cNvSpPr txBox="1"/>
          <p:nvPr/>
        </p:nvSpPr>
        <p:spPr>
          <a:xfrm>
            <a:off x="8458987" y="1488106"/>
            <a:ext cx="37460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Technology Stack</a:t>
            </a:r>
          </a:p>
          <a:p>
            <a:endParaRPr lang="en-GB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Frontend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Vanilla HTML5, CSS3 &amp; JavaScript</a:t>
            </a:r>
          </a:p>
          <a:p>
            <a:pPr marL="285750" indent="-285750">
              <a:buFontTx/>
              <a:buChar char="-"/>
            </a:pPr>
            <a:endParaRPr lang="en-GB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Backend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Python 3.14 + Flask</a:t>
            </a:r>
          </a:p>
          <a:p>
            <a:endParaRPr lang="en-GB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AI Layer</a:t>
            </a:r>
          </a:p>
          <a:p>
            <a:pPr marL="285750" indent="-285750">
              <a:buFontTx/>
              <a:buChar char="-"/>
            </a:pPr>
            <a:r>
              <a:rPr lang="en-GB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LangChain</a:t>
            </a: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Meta Llama 3.1 8B</a:t>
            </a:r>
          </a:p>
          <a:p>
            <a:pPr marL="285750" indent="-285750">
              <a:buFontTx/>
              <a:buChar char="-"/>
            </a:pPr>
            <a:r>
              <a:rPr lang="en-GB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TranslateGemma</a:t>
            </a: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BGE-M3</a:t>
            </a:r>
          </a:p>
          <a:p>
            <a:endParaRPr lang="en-GB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Embeddings</a:t>
            </a:r>
          </a:p>
          <a:p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Speech &amp; Audio Layer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Whisper.cpp, AI4Bharat </a:t>
            </a:r>
            <a:r>
              <a:rPr lang="en-GB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IndicTTS</a:t>
            </a:r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</a:p>
          <a:p>
            <a:endParaRPr lang="en-GB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Local Storage &amp; Database</a:t>
            </a:r>
          </a:p>
          <a:p>
            <a:r>
              <a:rPr lang="en-GB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- SQLite3, </a:t>
            </a:r>
            <a:r>
              <a:rPr lang="en-GB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ChromaDB</a:t>
            </a:r>
            <a:endParaRPr lang="en-GB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15A0C38A-67AC-58B7-84AB-504C96C8C1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90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SmritiCare</a:t>
            </a:r>
            <a:endParaRPr lang="en-IN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F1C3AD49-FCCC-05B9-D71F-D36792CDE9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2320413" y="1779687"/>
            <a:ext cx="6979343" cy="4589908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06E024E5-A30B-724D-D44C-9B14FC6CE8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90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SmritiCare</a:t>
            </a:r>
            <a:endParaRPr lang="en-IN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DAF0EF-0C53-C4A5-8F80-8D03BFE55553}"/>
              </a:ext>
            </a:extLst>
          </p:cNvPr>
          <p:cNvSpPr txBox="1"/>
          <p:nvPr/>
        </p:nvSpPr>
        <p:spPr>
          <a:xfrm>
            <a:off x="21777" y="1779687"/>
            <a:ext cx="41372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dirty="0"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Working End-to-End Prototype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</a:p>
          <a:p>
            <a:pPr marL="342900" indent="-342900">
              <a:buAutoNum type="arabicPeriod"/>
            </a:pP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Edge &amp; Consumer-Hardware Compatible:  Powered by 4-bit/8-bit quantized models (</a:t>
            </a:r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Meta Llama 3.1 8B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 </a:t>
            </a:r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Whisper.cpp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and </a:t>
            </a:r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BGE-M3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), the entire </a:t>
            </a:r>
            <a:r>
              <a:rPr lang="en-GB" dirty="0"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AI stack can run locally on modest consumer hardware.</a:t>
            </a:r>
          </a:p>
          <a:p>
            <a:pPr marL="342900" indent="-342900">
              <a:buAutoNum type="arabicPeriod"/>
            </a:pP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Offline-Resilient RAG Architecture: Retrieval-Augmented Generation (</a:t>
            </a:r>
            <a:r>
              <a:rPr lang="en-GB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ChromaDB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+ SQLite) and local MD5 audio caching allow the platform to </a:t>
            </a:r>
            <a:r>
              <a:rPr lang="en-GB" dirty="0"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serve repeated parent queries with instant &lt;100ms response 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times, even in areas with intermittent rural internet connectivity.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BDBC00-E0A5-0A80-781C-AD2700DE3218}"/>
              </a:ext>
            </a:extLst>
          </p:cNvPr>
          <p:cNvSpPr txBox="1"/>
          <p:nvPr/>
        </p:nvSpPr>
        <p:spPr>
          <a:xfrm>
            <a:off x="537216" y="1386470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Technical Feasibility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ADD7F4-7858-0DED-913B-97B01124BBED}"/>
              </a:ext>
            </a:extLst>
          </p:cNvPr>
          <p:cNvSpPr txBox="1"/>
          <p:nvPr/>
        </p:nvSpPr>
        <p:spPr>
          <a:xfrm>
            <a:off x="4090886" y="997442"/>
            <a:ext cx="390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Operational &amp; Ecosystem Feasibility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7C4311-42B2-11A9-E6E0-02A153722A5F}"/>
              </a:ext>
            </a:extLst>
          </p:cNvPr>
          <p:cNvSpPr txBox="1"/>
          <p:nvPr/>
        </p:nvSpPr>
        <p:spPr>
          <a:xfrm>
            <a:off x="3952240" y="1380979"/>
            <a:ext cx="423091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Seamless MSDE / NCVT Integration: 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Designed with standard RESTful APIs that easily plug into existing government skilling infrastructure.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Plug-and-Play Institutional Rollout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Requires zero complex client installation, accessible via a lightweight web browser on smartphones or through kiosks at 15,000+ Industrial Training Institutes (ITIs) and rural Common Service Centres (CSCs).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Low Maintenance Overhead: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Data is decoupled into verified schemas (</a:t>
            </a:r>
            <a:r>
              <a:rPr lang="en-GB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trades.json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 / SQLite), allowing non-technical scheme administrators to update wage benchmarks, scheme subsidies, or new trades without touching model code.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FAB22C-50B0-3F08-D91B-0BAF68084C1B}"/>
              </a:ext>
            </a:extLst>
          </p:cNvPr>
          <p:cNvSpPr txBox="1"/>
          <p:nvPr/>
        </p:nvSpPr>
        <p:spPr>
          <a:xfrm>
            <a:off x="8503937" y="1196313"/>
            <a:ext cx="3312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Economic &amp; Financial Viability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979407-68A6-385A-A195-685901BF50DC}"/>
              </a:ext>
            </a:extLst>
          </p:cNvPr>
          <p:cNvSpPr txBox="1"/>
          <p:nvPr/>
        </p:nvSpPr>
        <p:spPr>
          <a:xfrm>
            <a:off x="8209279" y="1502688"/>
            <a:ext cx="398272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+mj-lt"/>
              <a:buAutoNum type="arabicPeriod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Zero Recurring API Licensing Fees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</a:t>
            </a:r>
            <a:r>
              <a:rPr lang="en-GB" sz="1800" b="0" i="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Built entirely on an open-source AI stack eliminating per-token cloud costs.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GB" sz="1800" b="1" i="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Ultra-Low Cost per Session</a:t>
            </a:r>
            <a:r>
              <a:rPr lang="en-GB" sz="1800" b="0" i="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Estimated compute cost is </a:t>
            </a: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under ₹0.08 per completed counselling session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making population-scale deployment feasible on government budgets.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High Return on Public Investment (ROI)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In India, a single mid-course ITI dropout costs the public exchequer over </a:t>
            </a:r>
            <a:r>
              <a:rPr lang="en-GB" sz="1800" b="1" i="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₹45,000 in wasted </a:t>
            </a: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subsidies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</a:t>
            </a:r>
            <a:r>
              <a:rPr lang="en-GB" sz="1800" b="0" i="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Preventing just 2, 3 dropouts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per ITI recovers the platform's deployment cost for an entire district.</a:t>
            </a:r>
            <a:endParaRPr lang="en-GB" sz="976" b="0" i="0" dirty="0">
              <a:solidFill>
                <a:srgbClr val="CCCCCC"/>
              </a:solidFill>
              <a:effectLst/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762CC9A-EB85-F70D-C87F-2BDBD33C1F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504147" y="4087308"/>
            <a:ext cx="3687853" cy="27706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90933B-B7BB-7891-E97D-845872FEED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372" y="3929167"/>
            <a:ext cx="3581407" cy="2947422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8E74F06-76CF-4011-D7BA-D0DF94FECA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90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SmritiCare</a:t>
            </a:r>
            <a:endParaRPr lang="en-IN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611F0-9887-E357-E46C-27E99F9394A8}"/>
              </a:ext>
            </a:extLst>
          </p:cNvPr>
          <p:cNvSpPr txBox="1"/>
          <p:nvPr/>
        </p:nvSpPr>
        <p:spPr>
          <a:xfrm>
            <a:off x="1940561" y="1455122"/>
            <a:ext cx="38764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Impact on Target Audience</a:t>
            </a:r>
          </a:p>
          <a:p>
            <a:pPr lvl="0"/>
            <a:b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</a:br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For Youth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Eliminates parental veto; provides clear career ladders (e.g. ₹28k starting -&gt; ₹55k supervisor).</a:t>
            </a:r>
          </a:p>
          <a:p>
            <a:pPr lvl="0"/>
            <a:endParaRPr lang="en-GB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lvl="0"/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For Parents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Replaces fear of "dead-ends" with </a:t>
            </a:r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82 - 93% verified placement rates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 and factory PPE safety proofs.</a:t>
            </a:r>
          </a:p>
          <a:p>
            <a:pPr lvl="0"/>
            <a:endParaRPr lang="en-GB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lvl="0"/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For MSDE / Admins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Real-time </a:t>
            </a:r>
            <a:r>
              <a:rPr lang="en-GB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Resistance Heatmap</a:t>
            </a:r>
            <a:r>
              <a:rPr lang="en-GB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 pinpoints exact districts and reasons where parents hesitate.</a:t>
            </a:r>
          </a:p>
          <a:p>
            <a:endParaRPr lang="en-GB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46451-01B3-4ED4-775B-4929521E6F58}"/>
              </a:ext>
            </a:extLst>
          </p:cNvPr>
          <p:cNvSpPr txBox="1"/>
          <p:nvPr/>
        </p:nvSpPr>
        <p:spPr>
          <a:xfrm>
            <a:off x="6095999" y="1443841"/>
            <a:ext cx="4155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GB" sz="1800" b="0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 Solution Benefits</a:t>
            </a:r>
          </a:p>
          <a:p>
            <a:pPr marL="0" marR="0" indent="0" algn="l">
              <a:buNone/>
            </a:pPr>
            <a:endParaRPr lang="en-GB" sz="1800" b="0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Social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Restores </a:t>
            </a:r>
            <a:r>
              <a:rPr lang="en-GB" sz="1800" b="0" i="1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Dignity of Labor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; boosts female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enrollment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in safe, certified trades (Healthcare 93% placement).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chemeClr val="tx1"/>
              </a:solidFill>
              <a:effectLst/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Economic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 </a:t>
            </a: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35 - 40% drop in mid-course dropouts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saving the public exchequer </a:t>
            </a: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₹45,000+ per student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 in wasted subsidies.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chemeClr val="tx1"/>
              </a:solidFill>
              <a:effectLst/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Environmental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Promotes green-collar pathways (Solar PV, EV Battery) via 100% paperless, remote counselling.</a:t>
            </a:r>
            <a:endParaRPr lang="en-GB" sz="976" b="0" i="0" dirty="0">
              <a:solidFill>
                <a:srgbClr val="CCCCCC"/>
              </a:solidFill>
              <a:effectLst/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8886" y="1404349"/>
            <a:ext cx="11354227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200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A. ITI outcomes and perception</a:t>
            </a: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[1] Directorate General of Training (DGT), MSDE, "Tracer Study of ITI Graduates: Final Report," Mott MacDonald, New Delhi, Jan. 2018.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3"/>
              </a:rPr>
              <a:t>https://dgt.gov.in/sites/default/files/pdf/Tracer%20Study%20of%20ITI%20Graduates-Final%20report.pdf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[2] DGT, MSDE, "Tracer Study to Assess Employment Outcomes of ITI Pass Outs (STRIVE Project)," Deloitte, New Delhi, May 2024.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4"/>
              </a:rPr>
              <a:t>https://dgt.gov.in/sites/default/files/National%20Tracer%20Study%20-%20STRIVE.pdf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[3] NITI Aayog, "Transforming Industrial Training Institutes," New Delhi, Jan. 2023.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5"/>
              </a:rPr>
              <a:t>https://www.niti.gov.in/sites/default/files/2023-02/ITI_Report_02022023_0.pdf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[4] U. Ajithkumar and M. Pilz, "Attractiveness of Industrial Training Institutes (ITI) in India: A study on ITI students and their parents," </a:t>
            </a:r>
            <a:r>
              <a:rPr lang="en-GB" sz="1200" i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Education + Training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vol. 61, no. 2, pp. 153, 168, 2019.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6"/>
              </a:rPr>
              <a:t>https://doi.org/10.1108/ET-04-2018-0102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B. Policy</a:t>
            </a: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[5] Ministry of Education, Govt. of India, </a:t>
            </a:r>
            <a:r>
              <a:rPr lang="en-GB" sz="1200" i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National Education Policy 2020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New Delhi, 2020.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7"/>
              </a:rPr>
              <a:t>https://static.pib.gov.in/WriteReadData/userfiles/NEP_Final_English_0.pdf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[6] NCVET, MSDE, "Notification of National Credit Framework (</a:t>
            </a:r>
            <a:r>
              <a:rPr lang="en-GB" sz="12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NCrF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 in respect of Vocational Education," F. No. 26001/01/2019-20/NCVET, 2023.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8"/>
              </a:rPr>
              <a:t>https://ncvet.gov.in/wp-content/uploads/2023/05/National-Credit-Framework-NCVET-notification.pdf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Report of the High-Level Committee: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9"/>
              </a:rPr>
              <a:t>https://ncvet.gov.in/wp-content/uploads/2023/05/Report-on-National_Credit_Framework.pdf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C. Speech, language and retrieval</a:t>
            </a: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[7] G. </a:t>
            </a:r>
            <a:r>
              <a:rPr lang="en-GB" sz="12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Gerganov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and contributors, "whisper.cpp," GitHub. 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10"/>
              </a:rPr>
              <a:t>https://github.com/ggml-org/whisper.cpp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[8] AI4Bharat, </a:t>
            </a:r>
            <a:r>
              <a:rPr lang="en-GB" sz="1200" i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"</a:t>
            </a:r>
            <a:r>
              <a:rPr lang="en-GB" sz="1200" i="1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IndicTTS</a:t>
            </a:r>
            <a:r>
              <a:rPr lang="en-GB" sz="1200" i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: Text-to-Speech Synthesis in Indian Languages with </a:t>
            </a:r>
            <a:r>
              <a:rPr lang="en-GB" sz="1200" i="1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FastPitch</a:t>
            </a:r>
            <a:r>
              <a:rPr lang="en-GB" sz="1200" i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and HiFi-GAN Architectures,"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 Indian Institute of Technology (IIT) Madras, 2023. [Online]. Available: 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11"/>
              </a:rPr>
              <a:t>https://ai4bharat.org</a:t>
            </a:r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GB" sz="12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GB" sz="1200" dirty="0">
                <a:highlight>
                  <a:srgbClr val="FFFF00"/>
                </a:highligh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D. Stakeholders</a:t>
            </a:r>
          </a:p>
          <a:p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[9] Ministry of Skill Development and Entrepreneurship (MSDE) (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12"/>
              </a:rPr>
              <a:t>https://www.msde.gov.in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 , National Council for Vocational Education and Training (NCVET) (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13"/>
              </a:rPr>
              <a:t>https://ncvet.gov.in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), NITI Aayog (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14"/>
              </a:rPr>
              <a:t>https://www.niti.gov.in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), Directorate General of Training (DGT) (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15"/>
              </a:rPr>
              <a:t>https://dgt.gov.in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), National Council for Vocational Training (NCVT) (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  <a:hlinkClick r:id="rId16"/>
              </a:rPr>
              <a:t>https://ncvtmis.gov.in</a:t>
            </a:r>
            <a:r>
              <a:rPr lang="en-GB" sz="1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704C517-F3E1-1129-9383-9010905AD3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90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2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Arial" panose="020B0604020202020204" pitchFamily="34" charset="0"/>
              </a:rPr>
              <a:t>SmritiCare</a:t>
            </a:r>
            <a:endParaRPr lang="en-IN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8776</TotalTime>
  <Words>1203</Words>
  <Application>Microsoft Office PowerPoint</Application>
  <PresentationFormat>Widescreen</PresentationFormat>
  <Paragraphs>119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Adobe Fan Heiti Std B</vt:lpstr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VocGuide A bilingual, voice-enabled career counselling &amp; family decision-support ecosystem purpose-built for Indian vocational skilling.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Kalpit Rathod</cp:lastModifiedBy>
  <cp:revision>151</cp:revision>
  <dcterms:created xsi:type="dcterms:W3CDTF">2013-12-12T18:46:50Z</dcterms:created>
  <dcterms:modified xsi:type="dcterms:W3CDTF">2026-10-02T18:23:37Z</dcterms:modified>
  <cp:category/>
</cp:coreProperties>
</file>